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41" r:id="rId18"/>
    <p:sldId id="342" r:id="rId19"/>
    <p:sldId id="34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9" d="100"/>
          <a:sy n="89" d="100"/>
        </p:scale>
        <p:origin x="37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56405" y="3580185"/>
            <a:ext cx="9643202" cy="861497"/>
          </a:xfrm>
        </p:spPr>
        <p:txBody>
          <a:bodyPr vert="horz" lIns="91440" tIns="45720" rIns="91440" bIns="45720" rtlCol="0" anchor="t">
            <a:normAutofit/>
          </a:bodyPr>
          <a:lstStyle/>
          <a:p>
            <a:r>
              <a:rPr lang="en-US" b="0" dirty="0">
                <a:solidFill>
                  <a:schemeClr val="tx1"/>
                </a:solidFill>
              </a:rPr>
              <a:t>[Student Name SAGAR LINKA]</a:t>
            </a:r>
            <a:endParaRPr lang="en-IN" b="0" dirty="0">
              <a:solidFill>
                <a:schemeClr val="tx1"/>
              </a:solidFill>
            </a:endParaRPr>
          </a:p>
          <a:p>
            <a:r>
              <a:rPr lang="en-US" b="0" dirty="0">
                <a:solidFill>
                  <a:schemeClr val="tx1"/>
                </a:solidFill>
              </a:rPr>
              <a:t>[College Name- WORLD COLLEGE OF TECHNOLOGY AND MANAGEMENT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290175" y="2836737"/>
            <a:ext cx="9509432" cy="743448"/>
          </a:xfrm>
        </p:spPr>
        <p:txBody>
          <a:bodyPr>
            <a:normAutofit fontScale="90000"/>
          </a:bodyPr>
          <a:lstStyle/>
          <a:p>
            <a:r>
              <a:rPr lang="en-GB" sz="3200" dirty="0"/>
              <a:t>Project Title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56405" y="4441682"/>
            <a:ext cx="6986267" cy="369332"/>
          </a:xfrm>
          <a:prstGeom prst="rect">
            <a:avLst/>
          </a:prstGeom>
          <a:noFill/>
        </p:spPr>
        <p:txBody>
          <a:bodyPr wrap="square" rtlCol="0">
            <a:spAutoFit/>
          </a:bodyPr>
          <a:lstStyle/>
          <a:p>
            <a:r>
              <a:rPr lang="en-US" b="1" dirty="0"/>
              <a:t>AICTE STU ID : STU6a440d0bdd22b1782844683</a:t>
            </a:r>
          </a:p>
        </p:txBody>
      </p:sp>
      <p:sp>
        <p:nvSpPr>
          <p:cNvPr id="5" name="TextBox 4">
            <a:extLst>
              <a:ext uri="{FF2B5EF4-FFF2-40B4-BE49-F238E27FC236}">
                <a16:creationId xmlns:a16="http://schemas.microsoft.com/office/drawing/2014/main" id="{38B909B0-6813-AABF-36E4-CE2ECE48BE1B}"/>
              </a:ext>
            </a:extLst>
          </p:cNvPr>
          <p:cNvSpPr txBox="1"/>
          <p:nvPr/>
        </p:nvSpPr>
        <p:spPr>
          <a:xfrm>
            <a:off x="290175" y="4933847"/>
            <a:ext cx="5161718" cy="369332"/>
          </a:xfrm>
          <a:prstGeom prst="rect">
            <a:avLst/>
          </a:prstGeom>
          <a:noFill/>
        </p:spPr>
        <p:txBody>
          <a:bodyPr wrap="square" rtlCol="0">
            <a:spAutoFit/>
          </a:bodyPr>
          <a:lstStyle/>
          <a:p>
            <a:r>
              <a:rPr lang="en-US" dirty="0"/>
              <a:t>VOIS AICTE BATCH: BATCH 1 |2026-2027</a:t>
            </a:r>
            <a:endParaRPr lang="en-IN"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85000" lnSpcReduction="20000"/>
          </a:bodyPr>
          <a:lstStyle/>
          <a:p>
            <a:pPr>
              <a:lnSpc>
                <a:spcPct val="100000"/>
              </a:lnSpc>
            </a:pPr>
            <a:r>
              <a:rPr lang="en-US" sz="2800" dirty="0"/>
              <a:t>Agricultural performance varies across seasons due to changes in environmental conditions, farming practices, resource availability and market conditions. However, raw agricultural data does not clearly show how performance changes across seasons. This project analyzes the agricultural dataset to identify seasonal patterns, trends, relationships and variations in yield, production, resource usage and economic performance.</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193040"/>
            <a:ext cx="6276109" cy="1443171"/>
          </a:xfrm>
        </p:spPr>
        <p:txBody>
          <a:bodyPr>
            <a:normAutofit fontScale="90000"/>
          </a:bodyPr>
          <a:lstStyle/>
          <a:p>
            <a:r>
              <a:rPr lang="en-GB" dirty="0"/>
              <a:t>Project Description</a:t>
            </a:r>
            <a:br>
              <a:rPr lang="en-GB" dirty="0"/>
            </a:br>
            <a:r>
              <a:rPr lang="en-US" sz="1800" dirty="0"/>
              <a:t>The Seasonal Agriculture Performance Analysis project focuses on understanding how agricultural performance changes across different seasons.The project involves:</a:t>
            </a:r>
            <a:br>
              <a:rPr lang="en-US" sz="1800" dirty="0"/>
            </a:br>
            <a:br>
              <a:rPr lang="en-US" sz="1800" dirty="0"/>
            </a:br>
            <a:r>
              <a:rPr lang="en-US" sz="1800" dirty="0"/>
              <a:t>* Exploring and understanding the agricultural dataset</a:t>
            </a:r>
            <a:br>
              <a:rPr lang="en-US" sz="1800" dirty="0"/>
            </a:br>
            <a:br>
              <a:rPr lang="en-US" sz="1800" dirty="0"/>
            </a:br>
            <a:r>
              <a:rPr lang="en-US" sz="1800" dirty="0"/>
              <a:t>* Cleaning and preparing the data</a:t>
            </a:r>
            <a:br>
              <a:rPr lang="en-US" sz="1800" dirty="0"/>
            </a:br>
            <a:br>
              <a:rPr lang="en-US" sz="1800" dirty="0"/>
            </a:br>
            <a:r>
              <a:rPr lang="en-US" sz="1800" dirty="0"/>
              <a:t>* Comparing agricultural performance across seasons</a:t>
            </a:r>
            <a:br>
              <a:rPr lang="en-US" sz="1800" dirty="0"/>
            </a:br>
            <a:br>
              <a:rPr lang="en-US" sz="1800" dirty="0"/>
            </a:br>
            <a:r>
              <a:rPr lang="en-US" sz="1800" dirty="0"/>
              <a:t>* Analysing crop yield and production</a:t>
            </a:r>
            <a:br>
              <a:rPr lang="en-US" sz="1800" dirty="0"/>
            </a:br>
            <a:br>
              <a:rPr lang="en-US" sz="1800" dirty="0"/>
            </a:br>
            <a:r>
              <a:rPr lang="en-US" sz="1800" dirty="0"/>
              <a:t>* Studying resource usage and water efficiency</a:t>
            </a:r>
            <a:br>
              <a:rPr lang="en-US" sz="1800" dirty="0"/>
            </a:br>
            <a:br>
              <a:rPr lang="en-US" sz="1800" dirty="0"/>
            </a:br>
            <a:r>
              <a:rPr lang="en-US" sz="1800" dirty="0"/>
              <a:t>* Examining environmental factors such as rainfall and temperature</a:t>
            </a:r>
            <a:br>
              <a:rPr lang="en-US" sz="1800" dirty="0"/>
            </a:br>
            <a:br>
              <a:rPr lang="en-US" sz="1800" dirty="0"/>
            </a:br>
            <a:r>
              <a:rPr lang="en-US" sz="1800" dirty="0"/>
              <a:t>* Analysing economic performance such as revenue and profit</a:t>
            </a:r>
            <a:br>
              <a:rPr lang="en-US" sz="1800" dirty="0"/>
            </a:br>
            <a:br>
              <a:rPr lang="en-US" sz="1800" dirty="0"/>
            </a:br>
            <a:r>
              <a:rPr lang="en-US" sz="1800" dirty="0"/>
              <a:t>* Creating visualizations to identify meaningful patterns</a:t>
            </a:r>
            <a:br>
              <a:rPr lang="en-US" sz="1800" dirty="0"/>
            </a:br>
            <a:br>
              <a:rPr lang="en-US" sz="1800" dirty="0"/>
            </a:br>
            <a:r>
              <a:rPr lang="en-US" sz="1800" dirty="0"/>
              <a:t>* Developing data-driven insights and recommendations</a:t>
            </a:r>
            <a:r>
              <a:rPr lang="en-GB" sz="1800" dirty="0"/>
              <a:t> </a:t>
            </a:r>
            <a:br>
              <a:rPr lang="en-GB" sz="1600" dirty="0"/>
            </a:br>
            <a:endParaRPr lang="en-IN" sz="16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lnSpcReduction="10000"/>
          </a:bodyPr>
          <a:lstStyle/>
          <a:p>
            <a:pPr marL="457200" indent="-457200" algn="just">
              <a:lnSpc>
                <a:spcPct val="150000"/>
              </a:lnSpc>
              <a:buFont typeface="+mj-lt"/>
              <a:buAutoNum type="arabicPeriod"/>
            </a:pPr>
            <a:r>
              <a:rPr lang="en-US" dirty="0"/>
              <a:t>Farmers</a:t>
            </a:r>
          </a:p>
          <a:p>
            <a:pPr marL="457200" indent="-457200" algn="just">
              <a:lnSpc>
                <a:spcPct val="150000"/>
              </a:lnSpc>
              <a:buFont typeface="+mj-lt"/>
              <a:buAutoNum type="arabicPeriod"/>
            </a:pPr>
            <a:r>
              <a:rPr lang="en-US" dirty="0"/>
              <a:t>Agricultural planners</a:t>
            </a:r>
          </a:p>
          <a:p>
            <a:pPr marL="457200" indent="-457200" algn="just">
              <a:lnSpc>
                <a:spcPct val="150000"/>
              </a:lnSpc>
              <a:buFont typeface="+mj-lt"/>
              <a:buAutoNum type="arabicPeriod"/>
            </a:pPr>
            <a:r>
              <a:rPr lang="en-US" dirty="0"/>
              <a:t> Agricultural analysts</a:t>
            </a:r>
          </a:p>
          <a:p>
            <a:pPr marL="457200" indent="-457200" algn="just">
              <a:lnSpc>
                <a:spcPct val="150000"/>
              </a:lnSpc>
              <a:buFont typeface="+mj-lt"/>
              <a:buAutoNum type="arabicPeriod"/>
            </a:pPr>
            <a:r>
              <a:rPr lang="en-US" dirty="0"/>
              <a:t>Government and agricultural departments</a:t>
            </a:r>
          </a:p>
          <a:p>
            <a:pPr marL="457200" indent="-457200" algn="just">
              <a:lnSpc>
                <a:spcPct val="150000"/>
              </a:lnSpc>
              <a:buFont typeface="+mj-lt"/>
              <a:buAutoNum type="arabicPeriod"/>
            </a:pPr>
            <a:r>
              <a:rPr lang="en-US" dirty="0"/>
              <a:t>Researchers</a:t>
            </a:r>
          </a:p>
          <a:p>
            <a:pPr marL="457200" indent="-457200" algn="just">
              <a:lnSpc>
                <a:spcPct val="150000"/>
              </a:lnSpc>
              <a:buFont typeface="+mj-lt"/>
              <a:buAutoNum type="arabicPeriod"/>
            </a:pPr>
            <a:r>
              <a:rPr lang="en-US" dirty="0"/>
              <a:t> Farm management organizations</a:t>
            </a:r>
          </a:p>
          <a:p>
            <a:pPr marL="457200" indent="-457200" algn="just">
              <a:lnSpc>
                <a:spcPct val="150000"/>
              </a:lnSpc>
              <a:buFont typeface="+mj-lt"/>
              <a:buAutoNum type="arabicPeriod"/>
            </a:pPr>
            <a:r>
              <a:rPr lang="en-US" dirty="0"/>
              <a:t> Data analyst</a:t>
            </a: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698739"/>
            <a:ext cx="9027702" cy="6007813"/>
          </a:xfrm>
        </p:spPr>
        <p:txBody>
          <a:bodyPr>
            <a:normAutofit fontScale="85000" lnSpcReduction="20000"/>
          </a:bodyPr>
          <a:lstStyle/>
          <a:p>
            <a:pPr marL="457200" lvl="1" indent="0">
              <a:lnSpc>
                <a:spcPct val="150000"/>
              </a:lnSpc>
              <a:buNone/>
            </a:pPr>
            <a:r>
              <a:rPr lang="en-IN" dirty="0"/>
              <a:t>1- Programming Language : Python </a:t>
            </a:r>
          </a:p>
          <a:p>
            <a:pPr marL="457200" lvl="1" indent="0">
              <a:lnSpc>
                <a:spcPct val="150000"/>
              </a:lnSpc>
              <a:buNone/>
            </a:pPr>
            <a:r>
              <a:rPr lang="en-IN" dirty="0"/>
              <a:t>2- Platform : Google Colab </a:t>
            </a:r>
          </a:p>
          <a:p>
            <a:pPr marL="457200" lvl="1" indent="0">
              <a:lnSpc>
                <a:spcPct val="150000"/>
              </a:lnSpc>
              <a:buNone/>
            </a:pPr>
            <a:r>
              <a:rPr lang="en-IN" dirty="0"/>
              <a:t>3- Libraries: </a:t>
            </a:r>
          </a:p>
          <a:p>
            <a:pPr marL="457200" lvl="1" indent="0">
              <a:lnSpc>
                <a:spcPct val="150000"/>
              </a:lnSpc>
              <a:buNone/>
            </a:pPr>
            <a:r>
              <a:rPr lang="en-IN" dirty="0"/>
              <a:t>Pandas </a:t>
            </a:r>
          </a:p>
          <a:p>
            <a:pPr marL="457200" lvl="1" indent="0">
              <a:lnSpc>
                <a:spcPct val="150000"/>
              </a:lnSpc>
              <a:buNone/>
            </a:pPr>
            <a:r>
              <a:rPr lang="en-IN" dirty="0"/>
              <a:t>NumPy </a:t>
            </a:r>
          </a:p>
          <a:p>
            <a:pPr marL="457200" lvl="1" indent="0">
              <a:lnSpc>
                <a:spcPct val="150000"/>
              </a:lnSpc>
              <a:buNone/>
            </a:pPr>
            <a:r>
              <a:rPr lang="en-IN" dirty="0"/>
              <a:t>Matplotlib </a:t>
            </a:r>
          </a:p>
          <a:p>
            <a:pPr marL="457200" lvl="1" indent="0">
              <a:lnSpc>
                <a:spcPct val="150000"/>
              </a:lnSpc>
              <a:buNone/>
            </a:pPr>
            <a:r>
              <a:rPr lang="en-IN" dirty="0"/>
              <a:t>Seaborn </a:t>
            </a:r>
          </a:p>
          <a:p>
            <a:pPr marL="457200" lvl="1" indent="0">
              <a:lnSpc>
                <a:spcPct val="150000"/>
              </a:lnSpc>
              <a:buNone/>
            </a:pPr>
            <a:r>
              <a:rPr lang="en-IN" dirty="0"/>
              <a:t>4- Techniques : Data Cleaning</a:t>
            </a:r>
          </a:p>
          <a:p>
            <a:pPr marL="457200" lvl="1" indent="0">
              <a:lnSpc>
                <a:spcPct val="150000"/>
              </a:lnSpc>
              <a:buNone/>
            </a:pPr>
            <a:r>
              <a:rPr lang="en-IN" dirty="0"/>
              <a:t> Exploratory Data Analysis (EDA)</a:t>
            </a:r>
          </a:p>
          <a:p>
            <a:pPr marL="457200" lvl="1" indent="0">
              <a:lnSpc>
                <a:spcPct val="150000"/>
              </a:lnSpc>
              <a:buNone/>
            </a:pPr>
            <a:r>
              <a:rPr lang="en-IN" dirty="0"/>
              <a:t>  Statistical Analysis </a:t>
            </a:r>
          </a:p>
          <a:p>
            <a:pPr marL="457200" lvl="1" indent="0">
              <a:lnSpc>
                <a:spcPct val="150000"/>
              </a:lnSpc>
              <a:buNone/>
            </a:pPr>
            <a:r>
              <a:rPr lang="en-IN" dirty="0"/>
              <a:t> Correlation Analysis </a:t>
            </a:r>
          </a:p>
          <a:p>
            <a:pPr marL="457200" lvl="1" indent="0">
              <a:lnSpc>
                <a:spcPct val="150000"/>
              </a:lnSpc>
              <a:buNone/>
            </a:pPr>
            <a:r>
              <a:rPr lang="en-IN" dirty="0"/>
              <a:t> Data Visualization  </a:t>
            </a:r>
          </a:p>
          <a:p>
            <a:pPr marL="457200" lvl="1" indent="0">
              <a:lnSpc>
                <a:spcPct val="150000"/>
              </a:lnSpc>
              <a:buNone/>
            </a:pPr>
            <a:r>
              <a:rPr lang="en-IN" dirty="0"/>
              <a:t>Comparative Analysis</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1"/>
            <a:ext cx="5306291" cy="819508"/>
          </a:xfrm>
        </p:spPr>
        <p:txBody>
          <a:bodyPr>
            <a:normAutofit fontScale="90000"/>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fade">
                                      <p:cBhvr>
                                        <p:cTn id="44" dur="1000"/>
                                        <p:tgtEl>
                                          <p:spTgt spid="7">
                                            <p:txEl>
                                              <p:pRg st="6" end="6"/>
                                            </p:txEl>
                                          </p:spTgt>
                                        </p:tgtEl>
                                      </p:cBhvr>
                                    </p:animEffect>
                                    <p:anim calcmode="lin" valueType="num">
                                      <p:cBhvr>
                                        <p:cTn id="4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6" end="6"/>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7">
                                            <p:txEl>
                                              <p:pRg st="7" end="7"/>
                                            </p:txEl>
                                          </p:spTgt>
                                        </p:tgtEl>
                                        <p:attrNameLst>
                                          <p:attrName>style.visibility</p:attrName>
                                        </p:attrNameLst>
                                      </p:cBhvr>
                                      <p:to>
                                        <p:strVal val="visible"/>
                                      </p:to>
                                    </p:set>
                                    <p:animEffect transition="in" filter="fade">
                                      <p:cBhvr>
                                        <p:cTn id="49" dur="1000"/>
                                        <p:tgtEl>
                                          <p:spTgt spid="7">
                                            <p:txEl>
                                              <p:pRg st="7" end="7"/>
                                            </p:txEl>
                                          </p:spTgt>
                                        </p:tgtEl>
                                      </p:cBhvr>
                                    </p:animEffect>
                                    <p:anim calcmode="lin" valueType="num">
                                      <p:cBhvr>
                                        <p:cTn id="50"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7" end="7"/>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7">
                                            <p:txEl>
                                              <p:pRg st="8" end="8"/>
                                            </p:txEl>
                                          </p:spTgt>
                                        </p:tgtEl>
                                        <p:attrNameLst>
                                          <p:attrName>style.visibility</p:attrName>
                                        </p:attrNameLst>
                                      </p:cBhvr>
                                      <p:to>
                                        <p:strVal val="visible"/>
                                      </p:to>
                                    </p:set>
                                    <p:animEffect transition="in" filter="fade">
                                      <p:cBhvr>
                                        <p:cTn id="54" dur="1000"/>
                                        <p:tgtEl>
                                          <p:spTgt spid="7">
                                            <p:txEl>
                                              <p:pRg st="8" end="8"/>
                                            </p:txEl>
                                          </p:spTgt>
                                        </p:tgtEl>
                                      </p:cBhvr>
                                    </p:animEffect>
                                    <p:anim calcmode="lin" valueType="num">
                                      <p:cBhvr>
                                        <p:cTn id="55"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56" dur="1000" fill="hold"/>
                                        <p:tgtEl>
                                          <p:spTgt spid="7">
                                            <p:txEl>
                                              <p:pRg st="8" end="8"/>
                                            </p:txEl>
                                          </p:spTgt>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7">
                                            <p:txEl>
                                              <p:pRg st="9" end="9"/>
                                            </p:txEl>
                                          </p:spTgt>
                                        </p:tgtEl>
                                        <p:attrNameLst>
                                          <p:attrName>style.visibility</p:attrName>
                                        </p:attrNameLst>
                                      </p:cBhvr>
                                      <p:to>
                                        <p:strVal val="visible"/>
                                      </p:to>
                                    </p:set>
                                    <p:animEffect transition="in" filter="fade">
                                      <p:cBhvr>
                                        <p:cTn id="59" dur="1000"/>
                                        <p:tgtEl>
                                          <p:spTgt spid="7">
                                            <p:txEl>
                                              <p:pRg st="9" end="9"/>
                                            </p:txEl>
                                          </p:spTgt>
                                        </p:tgtEl>
                                      </p:cBhvr>
                                    </p:animEffect>
                                    <p:anim calcmode="lin" valueType="num">
                                      <p:cBhvr>
                                        <p:cTn id="60"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61" dur="1000" fill="hold"/>
                                        <p:tgtEl>
                                          <p:spTgt spid="7">
                                            <p:txEl>
                                              <p:pRg st="9" end="9"/>
                                            </p:txEl>
                                          </p:spTgt>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7">
                                            <p:txEl>
                                              <p:pRg st="10" end="10"/>
                                            </p:txEl>
                                          </p:spTgt>
                                        </p:tgtEl>
                                        <p:attrNameLst>
                                          <p:attrName>style.visibility</p:attrName>
                                        </p:attrNameLst>
                                      </p:cBhvr>
                                      <p:to>
                                        <p:strVal val="visible"/>
                                      </p:to>
                                    </p:set>
                                    <p:animEffect transition="in" filter="fade">
                                      <p:cBhvr>
                                        <p:cTn id="64" dur="1000"/>
                                        <p:tgtEl>
                                          <p:spTgt spid="7">
                                            <p:txEl>
                                              <p:pRg st="10" end="10"/>
                                            </p:txEl>
                                          </p:spTgt>
                                        </p:tgtEl>
                                      </p:cBhvr>
                                    </p:animEffect>
                                    <p:anim calcmode="lin" valueType="num">
                                      <p:cBhvr>
                                        <p:cTn id="6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66"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7">
                                            <p:txEl>
                                              <p:pRg st="11" end="11"/>
                                            </p:txEl>
                                          </p:spTgt>
                                        </p:tgtEl>
                                        <p:attrNameLst>
                                          <p:attrName>style.visibility</p:attrName>
                                        </p:attrNameLst>
                                      </p:cBhvr>
                                      <p:to>
                                        <p:strVal val="visible"/>
                                      </p:to>
                                    </p:set>
                                    <p:animEffect transition="in" filter="fade">
                                      <p:cBhvr>
                                        <p:cTn id="69" dur="1000"/>
                                        <p:tgtEl>
                                          <p:spTgt spid="7">
                                            <p:txEl>
                                              <p:pRg st="11" end="11"/>
                                            </p:txEl>
                                          </p:spTgt>
                                        </p:tgtEl>
                                      </p:cBhvr>
                                    </p:animEffect>
                                    <p:anim calcmode="lin" valueType="num">
                                      <p:cBhvr>
                                        <p:cTn id="70"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71" dur="1000" fill="hold"/>
                                        <p:tgtEl>
                                          <p:spTgt spid="7">
                                            <p:txEl>
                                              <p:pRg st="11" end="11"/>
                                            </p:txEl>
                                          </p:spTgt>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7">
                                            <p:txEl>
                                              <p:pRg st="12" end="12"/>
                                            </p:txEl>
                                          </p:spTgt>
                                        </p:tgtEl>
                                        <p:attrNameLst>
                                          <p:attrName>style.visibility</p:attrName>
                                        </p:attrNameLst>
                                      </p:cBhvr>
                                      <p:to>
                                        <p:strVal val="visible"/>
                                      </p:to>
                                    </p:set>
                                    <p:animEffect transition="in" filter="fade">
                                      <p:cBhvr>
                                        <p:cTn id="74" dur="1000"/>
                                        <p:tgtEl>
                                          <p:spTgt spid="7">
                                            <p:txEl>
                                              <p:pRg st="12" end="12"/>
                                            </p:txEl>
                                          </p:spTgt>
                                        </p:tgtEl>
                                      </p:cBhvr>
                                    </p:animEffect>
                                    <p:anim calcmode="lin" valueType="num">
                                      <p:cBhvr>
                                        <p:cTn id="75"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76"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6BCDE8B3-F905-C95A-6108-73473D350324}"/>
              </a:ext>
            </a:extLst>
          </p:cNvPr>
          <p:cNvSpPr txBox="1"/>
          <p:nvPr/>
        </p:nvSpPr>
        <p:spPr>
          <a:xfrm>
            <a:off x="675957" y="1275371"/>
            <a:ext cx="5983635" cy="369332"/>
          </a:xfrm>
          <a:prstGeom prst="rect">
            <a:avLst/>
          </a:prstGeom>
          <a:noFill/>
        </p:spPr>
        <p:txBody>
          <a:bodyPr wrap="square" rtlCol="0">
            <a:spAutoFit/>
          </a:bodyPr>
          <a:lstStyle/>
          <a:p>
            <a:r>
              <a:rPr lang="en-US" dirty="0"/>
              <a:t>DATA PREPARATION &amp; CLEANING</a:t>
            </a:r>
            <a:endParaRPr lang="en-IN" dirty="0"/>
          </a:p>
        </p:txBody>
      </p:sp>
      <p:sp>
        <p:nvSpPr>
          <p:cNvPr id="3" name="TextBox 2">
            <a:extLst>
              <a:ext uri="{FF2B5EF4-FFF2-40B4-BE49-F238E27FC236}">
                <a16:creationId xmlns:a16="http://schemas.microsoft.com/office/drawing/2014/main" id="{F7F268C1-1D91-19F7-7590-8E37374B15A3}"/>
              </a:ext>
            </a:extLst>
          </p:cNvPr>
          <p:cNvSpPr txBox="1"/>
          <p:nvPr/>
        </p:nvSpPr>
        <p:spPr>
          <a:xfrm>
            <a:off x="320983" y="1802921"/>
            <a:ext cx="6338610" cy="3693319"/>
          </a:xfrm>
          <a:prstGeom prst="rect">
            <a:avLst/>
          </a:prstGeom>
          <a:noFill/>
        </p:spPr>
        <p:txBody>
          <a:bodyPr wrap="square" rtlCol="0">
            <a:spAutoFit/>
          </a:bodyPr>
          <a:lstStyle/>
          <a:p>
            <a:r>
              <a:rPr lang="en-US" dirty="0"/>
              <a:t>• Dataset contains 4,000 records and 28 variables.</a:t>
            </a:r>
          </a:p>
          <a:p>
            <a:r>
              <a:rPr lang="en-US" dirty="0"/>
              <a:t>• Dataset includes crop, season, farm area and environmental parameters.</a:t>
            </a:r>
          </a:p>
          <a:p>
            <a:r>
              <a:rPr lang="en-US" dirty="0"/>
              <a:t>• Missing values were identified in selected numerical variables.</a:t>
            </a:r>
          </a:p>
          <a:p>
            <a:r>
              <a:rPr lang="en-US" dirty="0"/>
              <a:t>• Missing numerical values were handled using median imputation.</a:t>
            </a:r>
          </a:p>
          <a:p>
            <a:r>
              <a:rPr lang="en-US" dirty="0"/>
              <a:t>• Missing categorical values were handled using mode imputation.</a:t>
            </a:r>
          </a:p>
          <a:p>
            <a:r>
              <a:rPr lang="en-US" dirty="0"/>
              <a:t>• Duplicate records were checked and removed where present.</a:t>
            </a:r>
          </a:p>
          <a:p>
            <a:r>
              <a:rPr lang="en-US" dirty="0"/>
              <a:t>• The cleaned dataset was used for further analysis and visualization.</a:t>
            </a:r>
            <a:endParaRPr lang="en-IN" dirty="0"/>
          </a:p>
        </p:txBody>
      </p:sp>
      <p:pic>
        <p:nvPicPr>
          <p:cNvPr id="9" name="Picture 8">
            <a:extLst>
              <a:ext uri="{FF2B5EF4-FFF2-40B4-BE49-F238E27FC236}">
                <a16:creationId xmlns:a16="http://schemas.microsoft.com/office/drawing/2014/main" id="{B8062113-DB45-FBA6-8A67-216CE64B6CF2}"/>
              </a:ext>
            </a:extLst>
          </p:cNvPr>
          <p:cNvPicPr>
            <a:picLocks noChangeAspect="1"/>
          </p:cNvPicPr>
          <p:nvPr/>
        </p:nvPicPr>
        <p:blipFill>
          <a:blip r:embed="rId3"/>
          <a:stretch>
            <a:fillRect/>
          </a:stretch>
        </p:blipFill>
        <p:spPr>
          <a:xfrm>
            <a:off x="6494174" y="0"/>
            <a:ext cx="5591433" cy="685800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8" y="60385"/>
            <a:ext cx="2420926" cy="802257"/>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081815"/>
            <a:ext cx="3928738" cy="1773528"/>
          </a:xfrm>
        </p:spPr>
        <p:txBody>
          <a:bodyPr>
            <a:normAutofit fontScale="32500" lnSpcReduction="20000"/>
          </a:bodyPr>
          <a:lstStyle/>
          <a:p>
            <a:pPr marL="0" indent="0">
              <a:buNone/>
            </a:pPr>
            <a:r>
              <a:rPr lang="en-US" sz="4800" dirty="0"/>
              <a:t>KEY FINDINGS</a:t>
            </a:r>
          </a:p>
          <a:p>
            <a:pPr marL="0" indent="0">
              <a:buNone/>
            </a:pPr>
            <a:r>
              <a:rPr lang="en-US" sz="4300" dirty="0"/>
              <a:t>• Kharif recorded the highest average yield at 5.63 tonnes/ha.</a:t>
            </a:r>
          </a:p>
          <a:p>
            <a:pPr marL="0" indent="0">
              <a:buNone/>
            </a:pPr>
            <a:r>
              <a:rPr lang="en-US" sz="4300" dirty="0"/>
              <a:t>• Zaid recorded the lowest average yield among the analysed seasons.</a:t>
            </a:r>
          </a:p>
          <a:p>
            <a:pPr marL="0" indent="0">
              <a:buNone/>
            </a:pPr>
            <a:r>
              <a:rPr lang="en-US" sz="4300" dirty="0"/>
              <a:t>• Seasonal conditions influence agricultural productivity.</a:t>
            </a:r>
            <a:endParaRPr lang="en-IN" sz="4300" dirty="0"/>
          </a:p>
        </p:txBody>
      </p:sp>
      <p:sp>
        <p:nvSpPr>
          <p:cNvPr id="2" name="TextBox 1">
            <a:extLst>
              <a:ext uri="{FF2B5EF4-FFF2-40B4-BE49-F238E27FC236}">
                <a16:creationId xmlns:a16="http://schemas.microsoft.com/office/drawing/2014/main" id="{3F088D7E-35F7-D531-8F3C-DAE10ED11596}"/>
              </a:ext>
            </a:extLst>
          </p:cNvPr>
          <p:cNvSpPr txBox="1"/>
          <p:nvPr/>
        </p:nvSpPr>
        <p:spPr>
          <a:xfrm>
            <a:off x="675957" y="712482"/>
            <a:ext cx="5681710" cy="369332"/>
          </a:xfrm>
          <a:prstGeom prst="rect">
            <a:avLst/>
          </a:prstGeom>
          <a:noFill/>
        </p:spPr>
        <p:txBody>
          <a:bodyPr wrap="square" rtlCol="0">
            <a:spAutoFit/>
          </a:bodyPr>
          <a:lstStyle/>
          <a:p>
            <a:r>
              <a:rPr lang="en-US" dirty="0"/>
              <a:t>AVERAGE AGRICULTURAL YEILD BY SEASON</a:t>
            </a:r>
            <a:endParaRPr lang="en-IN" dirty="0"/>
          </a:p>
        </p:txBody>
      </p:sp>
      <p:pic>
        <p:nvPicPr>
          <p:cNvPr id="6" name="Picture 5">
            <a:extLst>
              <a:ext uri="{FF2B5EF4-FFF2-40B4-BE49-F238E27FC236}">
                <a16:creationId xmlns:a16="http://schemas.microsoft.com/office/drawing/2014/main" id="{5137EC29-A4FF-5974-1080-1AA6CA0A2A3B}"/>
              </a:ext>
            </a:extLst>
          </p:cNvPr>
          <p:cNvPicPr>
            <a:picLocks noChangeAspect="1"/>
          </p:cNvPicPr>
          <p:nvPr/>
        </p:nvPicPr>
        <p:blipFill>
          <a:blip r:embed="rId3"/>
          <a:stretch>
            <a:fillRect/>
          </a:stretch>
        </p:blipFill>
        <p:spPr>
          <a:xfrm>
            <a:off x="0" y="2821343"/>
            <a:ext cx="7617125" cy="4036657"/>
          </a:xfrm>
          <a:prstGeom prst="rect">
            <a:avLst/>
          </a:prstGeom>
        </p:spPr>
      </p:pic>
      <p:pic>
        <p:nvPicPr>
          <p:cNvPr id="11" name="Picture 10">
            <a:extLst>
              <a:ext uri="{FF2B5EF4-FFF2-40B4-BE49-F238E27FC236}">
                <a16:creationId xmlns:a16="http://schemas.microsoft.com/office/drawing/2014/main" id="{4E3CEE64-B002-DE4E-9DDF-D394F8467FD2}"/>
              </a:ext>
            </a:extLst>
          </p:cNvPr>
          <p:cNvPicPr>
            <a:picLocks noChangeAspect="1"/>
          </p:cNvPicPr>
          <p:nvPr/>
        </p:nvPicPr>
        <p:blipFill>
          <a:blip r:embed="rId4"/>
          <a:stretch>
            <a:fillRect/>
          </a:stretch>
        </p:blipFill>
        <p:spPr>
          <a:xfrm>
            <a:off x="7851732" y="60385"/>
            <a:ext cx="4340268" cy="673723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6174"/>
            <a:ext cx="2981643" cy="802256"/>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75957" y="1197210"/>
            <a:ext cx="5415349" cy="985273"/>
          </a:xfrm>
        </p:spPr>
        <p:txBody>
          <a:bodyPr>
            <a:noAutofit/>
          </a:bodyPr>
          <a:lstStyle/>
          <a:p>
            <a:pPr marL="0" indent="0">
              <a:buNone/>
            </a:pPr>
            <a:r>
              <a:rPr lang="en-US" sz="1200" dirty="0"/>
              <a:t>KEY FINDINGS</a:t>
            </a:r>
          </a:p>
          <a:p>
            <a:pPr marL="0" indent="0">
              <a:buNone/>
            </a:pPr>
            <a:r>
              <a:rPr lang="en-US" sz="1200" dirty="0"/>
              <a:t>• Kharif recorded the highest average profit at approximately</a:t>
            </a:r>
          </a:p>
          <a:p>
            <a:pPr marL="0" indent="0">
              <a:buNone/>
            </a:pPr>
            <a:r>
              <a:rPr lang="en-US" sz="1200" dirty="0"/>
              <a:t>  ₹178,915.</a:t>
            </a:r>
          </a:p>
          <a:p>
            <a:pPr marL="0" indent="0">
              <a:buNone/>
            </a:pPr>
            <a:r>
              <a:rPr lang="en-US" sz="1200" dirty="0"/>
              <a:t>• Rabi showed moderate average profitability.</a:t>
            </a:r>
          </a:p>
          <a:p>
            <a:pPr marL="0" indent="0">
              <a:buNone/>
            </a:pPr>
            <a:r>
              <a:rPr lang="en-US" sz="1200" dirty="0"/>
              <a:t>• Zaid recorded negative average profitability of approximately</a:t>
            </a:r>
          </a:p>
          <a:p>
            <a:pPr marL="0" indent="0">
              <a:buNone/>
            </a:pPr>
            <a:r>
              <a:rPr lang="en-US" sz="1200" dirty="0"/>
              <a:t>  ₹24,805 loss.</a:t>
            </a:r>
          </a:p>
          <a:p>
            <a:pPr marL="0" indent="0">
              <a:buNone/>
            </a:pPr>
            <a:r>
              <a:rPr lang="en-US" sz="1200" dirty="0"/>
              <a:t>• Seasonal planning should consider both yield and economic returns.</a:t>
            </a:r>
            <a:endParaRPr lang="en-IN" sz="1200" dirty="0"/>
          </a:p>
        </p:txBody>
      </p:sp>
      <p:sp>
        <p:nvSpPr>
          <p:cNvPr id="2" name="TextBox 1">
            <a:extLst>
              <a:ext uri="{FF2B5EF4-FFF2-40B4-BE49-F238E27FC236}">
                <a16:creationId xmlns:a16="http://schemas.microsoft.com/office/drawing/2014/main" id="{6AD917D5-6A99-A50D-6A91-C00CF5C13BAC}"/>
              </a:ext>
            </a:extLst>
          </p:cNvPr>
          <p:cNvSpPr txBox="1"/>
          <p:nvPr/>
        </p:nvSpPr>
        <p:spPr>
          <a:xfrm>
            <a:off x="675957" y="827878"/>
            <a:ext cx="3169613" cy="369332"/>
          </a:xfrm>
          <a:prstGeom prst="rect">
            <a:avLst/>
          </a:prstGeom>
          <a:noFill/>
        </p:spPr>
        <p:txBody>
          <a:bodyPr wrap="square" rtlCol="0">
            <a:spAutoFit/>
          </a:bodyPr>
          <a:lstStyle/>
          <a:p>
            <a:r>
              <a:rPr lang="en-US" dirty="0"/>
              <a:t>AVERAGE PROFIT BY SEASON</a:t>
            </a:r>
            <a:endParaRPr lang="en-IN" dirty="0"/>
          </a:p>
        </p:txBody>
      </p:sp>
      <p:pic>
        <p:nvPicPr>
          <p:cNvPr id="3" name="Picture 2">
            <a:extLst>
              <a:ext uri="{FF2B5EF4-FFF2-40B4-BE49-F238E27FC236}">
                <a16:creationId xmlns:a16="http://schemas.microsoft.com/office/drawing/2014/main" id="{B6B1FECA-E652-7D83-A4B8-A57A1E00733E}"/>
              </a:ext>
            </a:extLst>
          </p:cNvPr>
          <p:cNvPicPr>
            <a:picLocks noChangeAspect="1"/>
          </p:cNvPicPr>
          <p:nvPr/>
        </p:nvPicPr>
        <p:blipFill>
          <a:blip r:embed="rId3"/>
          <a:stretch>
            <a:fillRect/>
          </a:stretch>
        </p:blipFill>
        <p:spPr>
          <a:xfrm>
            <a:off x="414718" y="3347049"/>
            <a:ext cx="5977456" cy="3510951"/>
          </a:xfrm>
          <a:prstGeom prst="rect">
            <a:avLst/>
          </a:prstGeom>
        </p:spPr>
      </p:pic>
      <p:pic>
        <p:nvPicPr>
          <p:cNvPr id="9" name="Picture 8">
            <a:extLst>
              <a:ext uri="{FF2B5EF4-FFF2-40B4-BE49-F238E27FC236}">
                <a16:creationId xmlns:a16="http://schemas.microsoft.com/office/drawing/2014/main" id="{128C5ADB-CB2B-A947-1CB4-020956474527}"/>
              </a:ext>
            </a:extLst>
          </p:cNvPr>
          <p:cNvPicPr>
            <a:picLocks noChangeAspect="1"/>
          </p:cNvPicPr>
          <p:nvPr/>
        </p:nvPicPr>
        <p:blipFill>
          <a:blip r:embed="rId4"/>
          <a:stretch>
            <a:fillRect/>
          </a:stretch>
        </p:blipFill>
        <p:spPr>
          <a:xfrm>
            <a:off x="8616709" y="121533"/>
            <a:ext cx="3360711" cy="661493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1"/>
            <a:ext cx="2981643" cy="666078"/>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713487" y="956435"/>
            <a:ext cx="3918898" cy="1855775"/>
          </a:xfrm>
        </p:spPr>
        <p:txBody>
          <a:bodyPr>
            <a:normAutofit fontScale="55000" lnSpcReduction="20000"/>
          </a:bodyPr>
          <a:lstStyle/>
          <a:p>
            <a:pPr marL="0" indent="0">
              <a:buNone/>
            </a:pPr>
            <a:r>
              <a:rPr lang="en-US" dirty="0"/>
              <a:t>KEY FINDING </a:t>
            </a:r>
          </a:p>
          <a:p>
            <a:pPr marL="0" indent="0">
              <a:buNone/>
            </a:pPr>
            <a:r>
              <a:rPr lang="en-US" dirty="0"/>
              <a:t>• Sugarcane recorded the highest average yield among</a:t>
            </a:r>
          </a:p>
          <a:p>
            <a:pPr marL="0" indent="0">
              <a:buNone/>
            </a:pPr>
            <a:r>
              <a:rPr lang="en-US" dirty="0"/>
              <a:t>  the analysed crops.</a:t>
            </a:r>
          </a:p>
          <a:p>
            <a:pPr marL="0" indent="0">
              <a:buNone/>
            </a:pPr>
            <a:r>
              <a:rPr lang="en-US" dirty="0"/>
              <a:t>• Crop performance varies significantly across different crops.</a:t>
            </a:r>
          </a:p>
          <a:p>
            <a:pPr marL="0" indent="0">
              <a:buNone/>
            </a:pPr>
            <a:r>
              <a:rPr lang="en-US" dirty="0"/>
              <a:t>• Crop selection should consider both yield and profitability.</a:t>
            </a:r>
          </a:p>
        </p:txBody>
      </p:sp>
      <p:sp>
        <p:nvSpPr>
          <p:cNvPr id="2" name="TextBox 1">
            <a:extLst>
              <a:ext uri="{FF2B5EF4-FFF2-40B4-BE49-F238E27FC236}">
                <a16:creationId xmlns:a16="http://schemas.microsoft.com/office/drawing/2014/main" id="{C0E06CD2-A7A2-7960-DC77-59D29B400300}"/>
              </a:ext>
            </a:extLst>
          </p:cNvPr>
          <p:cNvSpPr txBox="1"/>
          <p:nvPr/>
        </p:nvSpPr>
        <p:spPr>
          <a:xfrm>
            <a:off x="675957" y="561905"/>
            <a:ext cx="4784564" cy="369332"/>
          </a:xfrm>
          <a:prstGeom prst="rect">
            <a:avLst/>
          </a:prstGeom>
          <a:noFill/>
        </p:spPr>
        <p:txBody>
          <a:bodyPr wrap="square" rtlCol="0">
            <a:spAutoFit/>
          </a:bodyPr>
          <a:lstStyle/>
          <a:p>
            <a:r>
              <a:rPr lang="en-US" dirty="0"/>
              <a:t>CROP-WISE AGRICULTURAL PERFORMANCE</a:t>
            </a:r>
            <a:endParaRPr lang="en-IN" dirty="0"/>
          </a:p>
        </p:txBody>
      </p:sp>
      <p:pic>
        <p:nvPicPr>
          <p:cNvPr id="6" name="Picture 5">
            <a:extLst>
              <a:ext uri="{FF2B5EF4-FFF2-40B4-BE49-F238E27FC236}">
                <a16:creationId xmlns:a16="http://schemas.microsoft.com/office/drawing/2014/main" id="{EB391A4B-A768-8361-8F5C-030D86F35723}"/>
              </a:ext>
            </a:extLst>
          </p:cNvPr>
          <p:cNvPicPr>
            <a:picLocks noChangeAspect="1"/>
          </p:cNvPicPr>
          <p:nvPr/>
        </p:nvPicPr>
        <p:blipFill>
          <a:blip r:embed="rId3"/>
          <a:stretch>
            <a:fillRect/>
          </a:stretch>
        </p:blipFill>
        <p:spPr>
          <a:xfrm>
            <a:off x="0" y="2890086"/>
            <a:ext cx="7496355" cy="3967913"/>
          </a:xfrm>
          <a:prstGeom prst="rect">
            <a:avLst/>
          </a:prstGeom>
        </p:spPr>
      </p:pic>
      <p:pic>
        <p:nvPicPr>
          <p:cNvPr id="11" name="Picture 10">
            <a:extLst>
              <a:ext uri="{FF2B5EF4-FFF2-40B4-BE49-F238E27FC236}">
                <a16:creationId xmlns:a16="http://schemas.microsoft.com/office/drawing/2014/main" id="{4AFCD992-7D38-CBB8-1B07-EF19729A6560}"/>
              </a:ext>
            </a:extLst>
          </p:cNvPr>
          <p:cNvPicPr>
            <a:picLocks noChangeAspect="1"/>
          </p:cNvPicPr>
          <p:nvPr/>
        </p:nvPicPr>
        <p:blipFill>
          <a:blip r:embed="rId4"/>
          <a:stretch>
            <a:fillRect/>
          </a:stretch>
        </p:blipFill>
        <p:spPr>
          <a:xfrm>
            <a:off x="8172312" y="0"/>
            <a:ext cx="3836553" cy="685799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546561" y="0"/>
            <a:ext cx="2722849" cy="526211"/>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7788294" y="1"/>
            <a:ext cx="4021267" cy="2277374"/>
          </a:xfrm>
        </p:spPr>
        <p:txBody>
          <a:bodyPr>
            <a:noAutofit/>
          </a:bodyPr>
          <a:lstStyle/>
          <a:p>
            <a:pPr marL="0" indent="0">
              <a:buNone/>
            </a:pPr>
            <a:r>
              <a:rPr lang="en-US" sz="1200" dirty="0"/>
              <a:t>KEY FINDINGS</a:t>
            </a:r>
          </a:p>
          <a:p>
            <a:r>
              <a:rPr lang="en-US" sz="1200" dirty="0"/>
              <a:t>Water efficiency shows a strong positive relationship with yield.</a:t>
            </a:r>
          </a:p>
          <a:p>
            <a:r>
              <a:rPr lang="en-US" sz="1200" dirty="0"/>
              <a:t>Production has a strong positive relationship with yield.</a:t>
            </a:r>
          </a:p>
          <a:p>
            <a:r>
              <a:rPr lang="en-US" sz="1200" dirty="0"/>
              <a:t>Profit and revenue show moderate positive relationships with yield.</a:t>
            </a:r>
          </a:p>
          <a:p>
            <a:r>
              <a:rPr lang="en-US" sz="1200" dirty="0"/>
              <a:t>Correlation analysis helps identify important relationships between agricultural variables.</a:t>
            </a:r>
            <a:endParaRPr lang="en-IN" sz="1200" dirty="0"/>
          </a:p>
        </p:txBody>
      </p:sp>
      <p:sp>
        <p:nvSpPr>
          <p:cNvPr id="2" name="TextBox 1">
            <a:extLst>
              <a:ext uri="{FF2B5EF4-FFF2-40B4-BE49-F238E27FC236}">
                <a16:creationId xmlns:a16="http://schemas.microsoft.com/office/drawing/2014/main" id="{E10D382A-CF9F-FE68-ABC7-4C650557ADFF}"/>
              </a:ext>
            </a:extLst>
          </p:cNvPr>
          <p:cNvSpPr txBox="1"/>
          <p:nvPr/>
        </p:nvSpPr>
        <p:spPr>
          <a:xfrm>
            <a:off x="560717" y="776377"/>
            <a:ext cx="2682815" cy="369332"/>
          </a:xfrm>
          <a:prstGeom prst="rect">
            <a:avLst/>
          </a:prstGeom>
          <a:noFill/>
        </p:spPr>
        <p:txBody>
          <a:bodyPr wrap="square" rtlCol="0">
            <a:spAutoFit/>
          </a:bodyPr>
          <a:lstStyle/>
          <a:p>
            <a:r>
              <a:rPr lang="en-US" dirty="0"/>
              <a:t>CORRELATION ANALYSIS</a:t>
            </a:r>
            <a:endParaRPr lang="en-IN" dirty="0"/>
          </a:p>
        </p:txBody>
      </p:sp>
      <p:pic>
        <p:nvPicPr>
          <p:cNvPr id="3" name="Picture 2">
            <a:extLst>
              <a:ext uri="{FF2B5EF4-FFF2-40B4-BE49-F238E27FC236}">
                <a16:creationId xmlns:a16="http://schemas.microsoft.com/office/drawing/2014/main" id="{AFF7E0C0-5FC2-416E-1BD8-FB0FF25F1F98}"/>
              </a:ext>
            </a:extLst>
          </p:cNvPr>
          <p:cNvPicPr>
            <a:picLocks noChangeAspect="1"/>
          </p:cNvPicPr>
          <p:nvPr/>
        </p:nvPicPr>
        <p:blipFill>
          <a:blip r:embed="rId3"/>
          <a:stretch>
            <a:fillRect/>
          </a:stretch>
        </p:blipFill>
        <p:spPr>
          <a:xfrm>
            <a:off x="0" y="1138688"/>
            <a:ext cx="7427343" cy="5712290"/>
          </a:xfrm>
          <a:prstGeom prst="rect">
            <a:avLst/>
          </a:prstGeom>
        </p:spPr>
      </p:pic>
      <p:pic>
        <p:nvPicPr>
          <p:cNvPr id="9" name="Picture 8">
            <a:extLst>
              <a:ext uri="{FF2B5EF4-FFF2-40B4-BE49-F238E27FC236}">
                <a16:creationId xmlns:a16="http://schemas.microsoft.com/office/drawing/2014/main" id="{2E2531DA-17FC-FF3F-A2E7-4B6D67C23FE2}"/>
              </a:ext>
            </a:extLst>
          </p:cNvPr>
          <p:cNvPicPr>
            <a:picLocks noChangeAspect="1"/>
          </p:cNvPicPr>
          <p:nvPr/>
        </p:nvPicPr>
        <p:blipFill>
          <a:blip r:embed="rId4"/>
          <a:stretch>
            <a:fillRect/>
          </a:stretch>
        </p:blipFill>
        <p:spPr>
          <a:xfrm>
            <a:off x="7788294" y="2369165"/>
            <a:ext cx="4021267" cy="3841853"/>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C424CD-760D-0560-DA33-5FC0F50A2A6C}"/>
              </a:ext>
            </a:extLst>
          </p:cNvPr>
          <p:cNvSpPr>
            <a:spLocks noGrp="1"/>
          </p:cNvSpPr>
          <p:nvPr>
            <p:ph type="title"/>
          </p:nvPr>
        </p:nvSpPr>
        <p:spPr>
          <a:xfrm>
            <a:off x="586596" y="1"/>
            <a:ext cx="3623095" cy="664233"/>
          </a:xfrm>
        </p:spPr>
        <p:txBody>
          <a:bodyPr>
            <a:normAutofit fontScale="90000"/>
          </a:bodyPr>
          <a:lstStyle/>
          <a:p>
            <a:r>
              <a:rPr lang="en-US" dirty="0"/>
              <a:t>RESULTS</a:t>
            </a:r>
            <a:endParaRPr lang="en-IN" dirty="0"/>
          </a:p>
        </p:txBody>
      </p:sp>
      <p:sp>
        <p:nvSpPr>
          <p:cNvPr id="5" name="TextBox 4">
            <a:extLst>
              <a:ext uri="{FF2B5EF4-FFF2-40B4-BE49-F238E27FC236}">
                <a16:creationId xmlns:a16="http://schemas.microsoft.com/office/drawing/2014/main" id="{9B4C5D96-B861-C541-0140-9262C7E2410E}"/>
              </a:ext>
            </a:extLst>
          </p:cNvPr>
          <p:cNvSpPr txBox="1"/>
          <p:nvPr/>
        </p:nvSpPr>
        <p:spPr>
          <a:xfrm>
            <a:off x="517585" y="664234"/>
            <a:ext cx="4649638" cy="369332"/>
          </a:xfrm>
          <a:prstGeom prst="rect">
            <a:avLst/>
          </a:prstGeom>
          <a:noFill/>
        </p:spPr>
        <p:txBody>
          <a:bodyPr wrap="square" rtlCol="0">
            <a:spAutoFit/>
          </a:bodyPr>
          <a:lstStyle/>
          <a:p>
            <a:r>
              <a:rPr lang="en-US" dirty="0"/>
              <a:t>SEASONAL PERFORMANCE COMPARISON</a:t>
            </a:r>
            <a:endParaRPr lang="en-IN" dirty="0"/>
          </a:p>
        </p:txBody>
      </p:sp>
      <p:sp>
        <p:nvSpPr>
          <p:cNvPr id="6" name="TextBox 5">
            <a:extLst>
              <a:ext uri="{FF2B5EF4-FFF2-40B4-BE49-F238E27FC236}">
                <a16:creationId xmlns:a16="http://schemas.microsoft.com/office/drawing/2014/main" id="{94CBE0EE-1643-55F5-6A34-A814F63D9732}"/>
              </a:ext>
            </a:extLst>
          </p:cNvPr>
          <p:cNvSpPr txBox="1"/>
          <p:nvPr/>
        </p:nvSpPr>
        <p:spPr>
          <a:xfrm>
            <a:off x="517585" y="982109"/>
            <a:ext cx="4727276" cy="1661993"/>
          </a:xfrm>
          <a:prstGeom prst="rect">
            <a:avLst/>
          </a:prstGeom>
          <a:noFill/>
        </p:spPr>
        <p:txBody>
          <a:bodyPr wrap="square" rtlCol="0">
            <a:spAutoFit/>
          </a:bodyPr>
          <a:lstStyle/>
          <a:p>
            <a:r>
              <a:rPr lang="en-US" dirty="0"/>
              <a:t>KEY FINDINGS</a:t>
            </a:r>
          </a:p>
          <a:p>
            <a:pPr marL="285750" indent="-285750">
              <a:buFont typeface="Arial" panose="020B0604020202020204" pitchFamily="34" charset="0"/>
              <a:buChar char="•"/>
            </a:pPr>
            <a:r>
              <a:rPr lang="en-US" sz="1400" dirty="0"/>
              <a:t>Kharif shows the strongest overall seasonal performance.</a:t>
            </a:r>
          </a:p>
          <a:p>
            <a:pPr marL="285750" indent="-285750">
              <a:buFont typeface="Arial" panose="020B0604020202020204" pitchFamily="34" charset="0"/>
              <a:buChar char="•"/>
            </a:pPr>
            <a:r>
              <a:rPr lang="en-US" sz="1400" dirty="0"/>
              <a:t>Rabi shows moderate performance.</a:t>
            </a:r>
          </a:p>
          <a:p>
            <a:pPr marL="285750" indent="-285750">
              <a:buFont typeface="Arial" panose="020B0604020202020204" pitchFamily="34" charset="0"/>
              <a:buChar char="•"/>
            </a:pPr>
            <a:r>
              <a:rPr lang="en-US" sz="1400" dirty="0"/>
              <a:t>Zaid records comparatively lower performance.</a:t>
            </a:r>
          </a:p>
          <a:p>
            <a:pPr marL="285750" indent="-285750">
              <a:buFont typeface="Arial" panose="020B0604020202020204" pitchFamily="34" charset="0"/>
              <a:buChar char="•"/>
            </a:pPr>
            <a:r>
              <a:rPr lang="en-US" sz="1400" dirty="0"/>
              <a:t>Seasonal comparison helps support better agricultural planning.</a:t>
            </a:r>
            <a:endParaRPr lang="en-IN" sz="1400" dirty="0"/>
          </a:p>
        </p:txBody>
      </p:sp>
      <p:pic>
        <p:nvPicPr>
          <p:cNvPr id="7" name="Picture 6">
            <a:extLst>
              <a:ext uri="{FF2B5EF4-FFF2-40B4-BE49-F238E27FC236}">
                <a16:creationId xmlns:a16="http://schemas.microsoft.com/office/drawing/2014/main" id="{3067FF3D-2AC1-D51C-B275-8665AB253F1E}"/>
              </a:ext>
            </a:extLst>
          </p:cNvPr>
          <p:cNvPicPr>
            <a:picLocks noChangeAspect="1"/>
          </p:cNvPicPr>
          <p:nvPr/>
        </p:nvPicPr>
        <p:blipFill>
          <a:blip r:embed="rId2"/>
          <a:stretch>
            <a:fillRect/>
          </a:stretch>
        </p:blipFill>
        <p:spPr>
          <a:xfrm>
            <a:off x="1" y="2760453"/>
            <a:ext cx="6866626" cy="4097546"/>
          </a:xfrm>
          <a:prstGeom prst="rect">
            <a:avLst/>
          </a:prstGeom>
        </p:spPr>
      </p:pic>
      <p:pic>
        <p:nvPicPr>
          <p:cNvPr id="10" name="Picture 9">
            <a:extLst>
              <a:ext uri="{FF2B5EF4-FFF2-40B4-BE49-F238E27FC236}">
                <a16:creationId xmlns:a16="http://schemas.microsoft.com/office/drawing/2014/main" id="{3FEAFDEA-C822-3A1C-4C0E-2711178EA110}"/>
              </a:ext>
            </a:extLst>
          </p:cNvPr>
          <p:cNvPicPr>
            <a:picLocks noChangeAspect="1"/>
          </p:cNvPicPr>
          <p:nvPr/>
        </p:nvPicPr>
        <p:blipFill>
          <a:blip r:embed="rId3"/>
          <a:stretch>
            <a:fillRect/>
          </a:stretch>
        </p:blipFill>
        <p:spPr>
          <a:xfrm>
            <a:off x="7551637" y="848900"/>
            <a:ext cx="4122777" cy="5662151"/>
          </a:xfrm>
          <a:prstGeom prst="rect">
            <a:avLst/>
          </a:prstGeom>
        </p:spPr>
      </p:pic>
    </p:spTree>
    <p:extLst>
      <p:ext uri="{BB962C8B-B14F-4D97-AF65-F5344CB8AC3E}">
        <p14:creationId xmlns:p14="http://schemas.microsoft.com/office/powerpoint/2010/main" val="1405137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2C8B11-85E5-DA88-98E9-20552DF84FF1}"/>
              </a:ext>
            </a:extLst>
          </p:cNvPr>
          <p:cNvSpPr>
            <a:spLocks noGrp="1"/>
          </p:cNvSpPr>
          <p:nvPr>
            <p:ph type="body" sz="quarter" idx="12"/>
          </p:nvPr>
        </p:nvSpPr>
        <p:spPr>
          <a:xfrm>
            <a:off x="571125" y="621102"/>
            <a:ext cx="4275138" cy="431321"/>
          </a:xfrm>
        </p:spPr>
        <p:txBody>
          <a:bodyPr>
            <a:normAutofit fontScale="85000" lnSpcReduction="10000"/>
          </a:bodyPr>
          <a:lstStyle/>
          <a:p>
            <a:r>
              <a:rPr lang="en-US" dirty="0"/>
              <a:t>WATER USAGE &amp; YEILD RELATIONSHIP</a:t>
            </a:r>
            <a:endParaRPr lang="en-IN" dirty="0"/>
          </a:p>
        </p:txBody>
      </p:sp>
      <p:sp>
        <p:nvSpPr>
          <p:cNvPr id="4" name="Title 3">
            <a:extLst>
              <a:ext uri="{FF2B5EF4-FFF2-40B4-BE49-F238E27FC236}">
                <a16:creationId xmlns:a16="http://schemas.microsoft.com/office/drawing/2014/main" id="{BF32BE41-BA84-234B-C3B4-4F9187930D56}"/>
              </a:ext>
            </a:extLst>
          </p:cNvPr>
          <p:cNvSpPr>
            <a:spLocks noGrp="1"/>
          </p:cNvSpPr>
          <p:nvPr>
            <p:ph type="title"/>
          </p:nvPr>
        </p:nvSpPr>
        <p:spPr>
          <a:xfrm>
            <a:off x="660400" y="1"/>
            <a:ext cx="2609011" cy="621101"/>
          </a:xfrm>
        </p:spPr>
        <p:txBody>
          <a:bodyPr>
            <a:normAutofit fontScale="90000"/>
          </a:bodyPr>
          <a:lstStyle/>
          <a:p>
            <a:r>
              <a:rPr lang="en-US" dirty="0"/>
              <a:t>RESULTS</a:t>
            </a:r>
            <a:endParaRPr lang="en-IN" dirty="0"/>
          </a:p>
        </p:txBody>
      </p:sp>
      <p:sp>
        <p:nvSpPr>
          <p:cNvPr id="5" name="TextBox 4">
            <a:extLst>
              <a:ext uri="{FF2B5EF4-FFF2-40B4-BE49-F238E27FC236}">
                <a16:creationId xmlns:a16="http://schemas.microsoft.com/office/drawing/2014/main" id="{EEF69014-817E-2994-739A-81819BE63E8F}"/>
              </a:ext>
            </a:extLst>
          </p:cNvPr>
          <p:cNvSpPr txBox="1"/>
          <p:nvPr/>
        </p:nvSpPr>
        <p:spPr>
          <a:xfrm>
            <a:off x="724619" y="1052423"/>
            <a:ext cx="4468483" cy="1569660"/>
          </a:xfrm>
          <a:prstGeom prst="rect">
            <a:avLst/>
          </a:prstGeom>
          <a:noFill/>
        </p:spPr>
        <p:txBody>
          <a:bodyPr wrap="square" rtlCol="0">
            <a:spAutoFit/>
          </a:bodyPr>
          <a:lstStyle/>
          <a:p>
            <a:r>
              <a:rPr lang="en-US" sz="1200" dirty="0"/>
              <a:t>KEY FINDINGS</a:t>
            </a:r>
          </a:p>
          <a:p>
            <a:pPr marL="285750" indent="-285750">
              <a:buFont typeface="Arial" panose="020B0604020202020204" pitchFamily="34" charset="0"/>
              <a:buChar char="•"/>
            </a:pPr>
            <a:r>
              <a:rPr lang="en-US" sz="1200" dirty="0"/>
              <a:t>Water usage shows a positive relationship with agricultural yield.</a:t>
            </a:r>
          </a:p>
          <a:p>
            <a:pPr marL="285750" indent="-285750">
              <a:buFont typeface="Arial" panose="020B0604020202020204" pitchFamily="34" charset="0"/>
              <a:buChar char="•"/>
            </a:pPr>
            <a:r>
              <a:rPr lang="en-US" sz="1200" dirty="0"/>
              <a:t>The relationship varies across different seasons.</a:t>
            </a:r>
          </a:p>
          <a:p>
            <a:pPr marL="285750" indent="-285750">
              <a:buFont typeface="Arial" panose="020B0604020202020204" pitchFamily="34" charset="0"/>
              <a:buChar char="•"/>
            </a:pPr>
            <a:r>
              <a:rPr lang="en-US" sz="1200" dirty="0"/>
              <a:t>Water efficiency is an important factor in understanding yield performance.</a:t>
            </a:r>
          </a:p>
          <a:p>
            <a:pPr marL="285750" indent="-285750">
              <a:buFont typeface="Arial" panose="020B0604020202020204" pitchFamily="34" charset="0"/>
              <a:buChar char="•"/>
            </a:pPr>
            <a:r>
              <a:rPr lang="en-US" sz="1200" dirty="0"/>
              <a:t>Efficient water management can support better agricultural outcomes.</a:t>
            </a:r>
            <a:endParaRPr lang="en-IN" sz="1200" dirty="0"/>
          </a:p>
        </p:txBody>
      </p:sp>
      <p:pic>
        <p:nvPicPr>
          <p:cNvPr id="6" name="Picture 5">
            <a:extLst>
              <a:ext uri="{FF2B5EF4-FFF2-40B4-BE49-F238E27FC236}">
                <a16:creationId xmlns:a16="http://schemas.microsoft.com/office/drawing/2014/main" id="{D30C132B-6869-1CC9-CD75-D94197C9A485}"/>
              </a:ext>
            </a:extLst>
          </p:cNvPr>
          <p:cNvPicPr>
            <a:picLocks noChangeAspect="1"/>
          </p:cNvPicPr>
          <p:nvPr/>
        </p:nvPicPr>
        <p:blipFill>
          <a:blip r:embed="rId2"/>
          <a:stretch>
            <a:fillRect/>
          </a:stretch>
        </p:blipFill>
        <p:spPr>
          <a:xfrm>
            <a:off x="0" y="2924354"/>
            <a:ext cx="7444596" cy="4002656"/>
          </a:xfrm>
          <a:prstGeom prst="rect">
            <a:avLst/>
          </a:prstGeom>
        </p:spPr>
      </p:pic>
      <p:pic>
        <p:nvPicPr>
          <p:cNvPr id="8" name="Picture 7">
            <a:extLst>
              <a:ext uri="{FF2B5EF4-FFF2-40B4-BE49-F238E27FC236}">
                <a16:creationId xmlns:a16="http://schemas.microsoft.com/office/drawing/2014/main" id="{26267E7D-4AC7-3BAB-8B4F-D80D9AF91CC0}"/>
              </a:ext>
            </a:extLst>
          </p:cNvPr>
          <p:cNvPicPr>
            <a:picLocks noChangeAspect="1"/>
          </p:cNvPicPr>
          <p:nvPr/>
        </p:nvPicPr>
        <p:blipFill>
          <a:blip r:embed="rId3"/>
          <a:stretch>
            <a:fillRect/>
          </a:stretch>
        </p:blipFill>
        <p:spPr>
          <a:xfrm>
            <a:off x="8094829" y="112142"/>
            <a:ext cx="3870008" cy="4155847"/>
          </a:xfrm>
          <a:prstGeom prst="rect">
            <a:avLst/>
          </a:prstGeom>
        </p:spPr>
      </p:pic>
    </p:spTree>
    <p:extLst>
      <p:ext uri="{BB962C8B-B14F-4D97-AF65-F5344CB8AC3E}">
        <p14:creationId xmlns:p14="http://schemas.microsoft.com/office/powerpoint/2010/main" val="3572323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7E359F-5146-C68C-829F-04227332D0C8}"/>
              </a:ext>
            </a:extLst>
          </p:cNvPr>
          <p:cNvSpPr>
            <a:spLocks noGrp="1"/>
          </p:cNvSpPr>
          <p:nvPr>
            <p:ph type="title"/>
          </p:nvPr>
        </p:nvSpPr>
        <p:spPr>
          <a:xfrm>
            <a:off x="660400" y="0"/>
            <a:ext cx="4275138" cy="638355"/>
          </a:xfrm>
        </p:spPr>
        <p:txBody>
          <a:bodyPr>
            <a:normAutofit fontScale="90000"/>
          </a:bodyPr>
          <a:lstStyle/>
          <a:p>
            <a:r>
              <a:rPr lang="en-US" dirty="0"/>
              <a:t>RESULT</a:t>
            </a:r>
            <a:endParaRPr lang="en-IN" dirty="0"/>
          </a:p>
        </p:txBody>
      </p:sp>
      <p:sp>
        <p:nvSpPr>
          <p:cNvPr id="6" name="Text Placeholder 5">
            <a:extLst>
              <a:ext uri="{FF2B5EF4-FFF2-40B4-BE49-F238E27FC236}">
                <a16:creationId xmlns:a16="http://schemas.microsoft.com/office/drawing/2014/main" id="{C22EED9D-9568-D86A-1AF8-6949B3EF9CB5}"/>
              </a:ext>
            </a:extLst>
          </p:cNvPr>
          <p:cNvSpPr>
            <a:spLocks noGrp="1"/>
          </p:cNvSpPr>
          <p:nvPr>
            <p:ph type="body" sz="quarter" idx="12"/>
          </p:nvPr>
        </p:nvSpPr>
        <p:spPr>
          <a:xfrm>
            <a:off x="375728" y="707367"/>
            <a:ext cx="4275138" cy="336430"/>
          </a:xfrm>
        </p:spPr>
        <p:txBody>
          <a:bodyPr>
            <a:normAutofit fontScale="92500" lnSpcReduction="20000"/>
          </a:bodyPr>
          <a:lstStyle/>
          <a:p>
            <a:r>
              <a:rPr lang="en-US" dirty="0"/>
              <a:t>TEMPERATURE &amp; YEILD ANALYSIS</a:t>
            </a:r>
            <a:endParaRPr lang="en-IN" dirty="0"/>
          </a:p>
        </p:txBody>
      </p:sp>
      <p:sp>
        <p:nvSpPr>
          <p:cNvPr id="7" name="TextBox 6">
            <a:extLst>
              <a:ext uri="{FF2B5EF4-FFF2-40B4-BE49-F238E27FC236}">
                <a16:creationId xmlns:a16="http://schemas.microsoft.com/office/drawing/2014/main" id="{54A2D71C-E42B-0B31-461A-EBB55E69C3CA}"/>
              </a:ext>
            </a:extLst>
          </p:cNvPr>
          <p:cNvSpPr txBox="1"/>
          <p:nvPr/>
        </p:nvSpPr>
        <p:spPr>
          <a:xfrm>
            <a:off x="660400" y="940278"/>
            <a:ext cx="4275138" cy="2031325"/>
          </a:xfrm>
          <a:prstGeom prst="rect">
            <a:avLst/>
          </a:prstGeom>
          <a:noFill/>
        </p:spPr>
        <p:txBody>
          <a:bodyPr wrap="square" rtlCol="0">
            <a:spAutoFit/>
          </a:bodyPr>
          <a:lstStyle/>
          <a:p>
            <a:r>
              <a:rPr lang="en-US" sz="1400" dirty="0"/>
              <a:t>KEY FINDINGS</a:t>
            </a:r>
          </a:p>
          <a:p>
            <a:pPr marL="285750" indent="-285750">
              <a:buFont typeface="Arial" panose="020B0604020202020204" pitchFamily="34" charset="0"/>
              <a:buChar char="•"/>
            </a:pPr>
            <a:r>
              <a:rPr lang="en-US" sz="1400" dirty="0"/>
              <a:t>Yield varies across different temperature conditions.</a:t>
            </a:r>
          </a:p>
          <a:p>
            <a:pPr marL="285750" indent="-285750">
              <a:buFont typeface="Arial" panose="020B0604020202020204" pitchFamily="34" charset="0"/>
              <a:buChar char="•"/>
            </a:pPr>
            <a:r>
              <a:rPr lang="en-US" sz="1400" dirty="0"/>
              <a:t>Seasonal differences can be observed in the relationship.</a:t>
            </a:r>
          </a:p>
          <a:p>
            <a:pPr marL="285750" indent="-285750">
              <a:buFont typeface="Arial" panose="020B0604020202020204" pitchFamily="34" charset="0"/>
              <a:buChar char="•"/>
            </a:pPr>
            <a:r>
              <a:rPr lang="en-US" sz="1400" dirty="0"/>
              <a:t>Environmental conditions are important factors in agricultural performance.</a:t>
            </a:r>
          </a:p>
          <a:p>
            <a:pPr marL="285750" indent="-285750">
              <a:buFont typeface="Arial" panose="020B0604020202020204" pitchFamily="34" charset="0"/>
              <a:buChar char="•"/>
            </a:pPr>
            <a:r>
              <a:rPr lang="en-US" sz="1400" dirty="0"/>
              <a:t>Temperature analysis helps identify patterns affecting crop yield.</a:t>
            </a:r>
            <a:endParaRPr lang="en-IN" sz="1400" dirty="0"/>
          </a:p>
        </p:txBody>
      </p:sp>
      <p:pic>
        <p:nvPicPr>
          <p:cNvPr id="8" name="Picture 7">
            <a:extLst>
              <a:ext uri="{FF2B5EF4-FFF2-40B4-BE49-F238E27FC236}">
                <a16:creationId xmlns:a16="http://schemas.microsoft.com/office/drawing/2014/main" id="{D4F74528-63AC-54D6-AD91-E8E37AE6902B}"/>
              </a:ext>
            </a:extLst>
          </p:cNvPr>
          <p:cNvPicPr>
            <a:picLocks noChangeAspect="1"/>
          </p:cNvPicPr>
          <p:nvPr/>
        </p:nvPicPr>
        <p:blipFill>
          <a:blip r:embed="rId2"/>
          <a:stretch>
            <a:fillRect/>
          </a:stretch>
        </p:blipFill>
        <p:spPr>
          <a:xfrm>
            <a:off x="1" y="2971603"/>
            <a:ext cx="7479102" cy="3886397"/>
          </a:xfrm>
          <a:prstGeom prst="rect">
            <a:avLst/>
          </a:prstGeom>
        </p:spPr>
      </p:pic>
      <p:pic>
        <p:nvPicPr>
          <p:cNvPr id="10" name="Picture 9">
            <a:extLst>
              <a:ext uri="{FF2B5EF4-FFF2-40B4-BE49-F238E27FC236}">
                <a16:creationId xmlns:a16="http://schemas.microsoft.com/office/drawing/2014/main" id="{FFB8A458-4245-6C1D-B196-6B9F53D0E8FE}"/>
              </a:ext>
            </a:extLst>
          </p:cNvPr>
          <p:cNvPicPr>
            <a:picLocks noChangeAspect="1"/>
          </p:cNvPicPr>
          <p:nvPr/>
        </p:nvPicPr>
        <p:blipFill>
          <a:blip r:embed="rId3"/>
          <a:stretch>
            <a:fillRect/>
          </a:stretch>
        </p:blipFill>
        <p:spPr>
          <a:xfrm>
            <a:off x="8100205" y="2639486"/>
            <a:ext cx="4091796" cy="3886397"/>
          </a:xfrm>
          <a:prstGeom prst="rect">
            <a:avLst/>
          </a:prstGeom>
        </p:spPr>
      </p:pic>
    </p:spTree>
    <p:extLst>
      <p:ext uri="{BB962C8B-B14F-4D97-AF65-F5344CB8AC3E}">
        <p14:creationId xmlns:p14="http://schemas.microsoft.com/office/powerpoint/2010/main" val="3641053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888521" y="370589"/>
            <a:ext cx="5357004"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484883" y="1275370"/>
            <a:ext cx="6985592" cy="4797626"/>
          </a:xfrm>
          <a:prstGeom prst="rect">
            <a:avLst/>
          </a:prstGeom>
        </p:spPr>
        <p:txBody>
          <a:bodyPr vert="horz" lIns="91440" tIns="45720" rIns="91440" bIns="45720" rtlCol="0">
            <a:normAutofit fontScale="25000" lnSpcReduction="2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1143000" indent="-1143000" algn="l">
              <a:buFont typeface="Arial" panose="020B0604020202020204" pitchFamily="34" charset="0"/>
              <a:buChar char="•"/>
            </a:pPr>
            <a:r>
              <a:rPr lang="en-US" sz="8000" dirty="0"/>
              <a:t>Develop predictive models for crop yield forecasting.</a:t>
            </a:r>
          </a:p>
          <a:p>
            <a:pPr marL="1143000" indent="-1143000" algn="l">
              <a:buFont typeface="Arial" panose="020B0604020202020204" pitchFamily="34" charset="0"/>
              <a:buChar char="•"/>
            </a:pPr>
            <a:endParaRPr lang="en-US" sz="8000" dirty="0"/>
          </a:p>
          <a:p>
            <a:pPr marL="1143000" indent="-1143000" algn="l">
              <a:buFont typeface="Arial" panose="020B0604020202020204" pitchFamily="34" charset="0"/>
              <a:buChar char="•"/>
            </a:pPr>
            <a:r>
              <a:rPr lang="en-US" sz="8000" dirty="0"/>
              <a:t>Include real-time weather and environmental data.</a:t>
            </a:r>
          </a:p>
          <a:p>
            <a:pPr marL="1143000" indent="-1143000" algn="l">
              <a:buFont typeface="Arial" panose="020B0604020202020204" pitchFamily="34" charset="0"/>
              <a:buChar char="•"/>
            </a:pPr>
            <a:endParaRPr lang="en-US" sz="8000" dirty="0"/>
          </a:p>
          <a:p>
            <a:pPr marL="1143000" indent="-1143000" algn="l">
              <a:buFont typeface="Arial" panose="020B0604020202020204" pitchFamily="34" charset="0"/>
              <a:buChar char="•"/>
            </a:pPr>
            <a:r>
              <a:rPr lang="en-US" sz="8000" dirty="0"/>
              <a:t>Build interactive dashboards for agricultural monitoring.</a:t>
            </a:r>
          </a:p>
          <a:p>
            <a:pPr marL="1143000" indent="-1143000" algn="l">
              <a:buFont typeface="Arial" panose="020B0604020202020204" pitchFamily="34" charset="0"/>
              <a:buChar char="•"/>
            </a:pPr>
            <a:endParaRPr lang="en-US" sz="8000" dirty="0"/>
          </a:p>
          <a:p>
            <a:pPr marL="1143000" indent="-1143000" algn="l">
              <a:buFont typeface="Arial" panose="020B0604020202020204" pitchFamily="34" charset="0"/>
              <a:buChar char="•"/>
            </a:pPr>
            <a:r>
              <a:rPr lang="en-US" sz="8000" dirty="0"/>
              <a:t>Extend analysis to more regions and crop varieties.</a:t>
            </a:r>
          </a:p>
          <a:p>
            <a:pPr marL="1143000" indent="-1143000" algn="l">
              <a:buFont typeface="Arial" panose="020B0604020202020204" pitchFamily="34" charset="0"/>
              <a:buChar char="•"/>
            </a:pPr>
            <a:endParaRPr lang="en-US" sz="8000" dirty="0"/>
          </a:p>
          <a:p>
            <a:pPr marL="1143000" indent="-1143000" algn="l">
              <a:buFont typeface="Arial" panose="020B0604020202020204" pitchFamily="34" charset="0"/>
              <a:buChar char="•"/>
            </a:pPr>
            <a:r>
              <a:rPr lang="en-US" sz="8000" dirty="0"/>
              <a:t>Apply advanced machine learning techniques for better predictions.</a:t>
            </a:r>
          </a:p>
          <a:p>
            <a:pPr algn="l"/>
            <a:endParaRPr lang="en-US" sz="2000" dirty="0"/>
          </a:p>
          <a:p>
            <a:pPr algn="l"/>
            <a:endParaRPr lang="en-US"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 </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032182BB-8D19-8897-0845-1664BBE21B74}"/>
              </a:ext>
            </a:extLst>
          </p:cNvPr>
          <p:cNvSpPr txBox="1"/>
          <p:nvPr/>
        </p:nvSpPr>
        <p:spPr>
          <a:xfrm>
            <a:off x="983412" y="2294625"/>
            <a:ext cx="5943600" cy="646331"/>
          </a:xfrm>
          <a:prstGeom prst="rect">
            <a:avLst/>
          </a:prstGeom>
          <a:noFill/>
        </p:spPr>
        <p:txBody>
          <a:bodyPr wrap="square" rtlCol="0">
            <a:spAutoFit/>
          </a:bodyPr>
          <a:lstStyle/>
          <a:p>
            <a:r>
              <a:rPr lang="en-IN" dirty="0"/>
              <a:t>https://github.com/Sagar-drexx/Seasonal-Agricultural-performance-analysis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87CFBF7-D520-0E03-0B88-D0C2E183EE0F}"/>
              </a:ext>
            </a:extLst>
          </p:cNvPr>
          <p:cNvPicPr>
            <a:picLocks noChangeAspect="1"/>
          </p:cNvPicPr>
          <p:nvPr/>
        </p:nvPicPr>
        <p:blipFill>
          <a:blip r:embed="rId3"/>
          <a:stretch>
            <a:fillRect/>
          </a:stretch>
        </p:blipFill>
        <p:spPr>
          <a:xfrm>
            <a:off x="567197" y="1402600"/>
            <a:ext cx="6416596" cy="458763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71af3243-3dd4-4a8d-8c0d-dd76da1f02a5"/>
    <ds:schemaRef ds:uri="http://www.w3.org/XML/1998/namespace"/>
    <ds:schemaRef ds:uri="http://purl.org/dc/dcmitype/"/>
    <ds:schemaRef ds:uri="http://purl.org/dc/elements/1.1/"/>
    <ds:schemaRef ds:uri="http://schemas.microsoft.com/office/2006/metadata/properties"/>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16c05727-aa75-4e4a-9b5f-8a80a1165891"/>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1513</TotalTime>
  <Words>712</Words>
  <Application>Microsoft Office PowerPoint</Application>
  <PresentationFormat>Widescreen</PresentationFormat>
  <Paragraphs>106</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The Seasonal Agriculture Performance Analysis project focuses on understanding how agricultural performance changes across different seasons.The project involves:  * Exploring and understanding the agricultural dataset  * Cleaning and preparing the data  * Comparing agricultural performance across seasons  * Analysing crop yield and production  * Studying resource usage and water efficiency  * Examining environmental factors such as rainfall and temperature  * Analysing economic performance such as revenue and profit  * Creating visualizations to identify meaningful patterns  * Developing data-driven insights and recommendations  </vt:lpstr>
      <vt:lpstr>WHO ARE THE END USERS?</vt:lpstr>
      <vt:lpstr>Technology Used</vt:lpstr>
      <vt:lpstr>RESULTS </vt:lpstr>
      <vt:lpstr>RESULTS </vt:lpstr>
      <vt:lpstr>RESULTS </vt:lpstr>
      <vt:lpstr>RESULTS </vt:lpstr>
      <vt:lpstr>RESULTS </vt:lpstr>
      <vt:lpstr>RESULTS</vt:lpstr>
      <vt:lpstr>RESULTS</vt:lpstr>
      <vt:lpstr>RESULT</vt:lpstr>
      <vt:lpstr>Future scope</vt:lpstr>
      <vt:lpstr>GitHub Link </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 G AR</cp:lastModifiedBy>
  <cp:revision>99</cp:revision>
  <dcterms:created xsi:type="dcterms:W3CDTF">2021-07-11T13:13:15Z</dcterms:created>
  <dcterms:modified xsi:type="dcterms:W3CDTF">2026-09-07T21:47:09Z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